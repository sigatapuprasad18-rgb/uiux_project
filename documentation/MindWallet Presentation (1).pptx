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3" r:id="rId8"/>
    <p:sldId id="264" r:id="rId9"/>
    <p:sldId id="265" r:id="rId10"/>
    <p:sldId id="266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563EB"/>
    <a:srgbClr val="779E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75" d="100"/>
          <a:sy n="75" d="100"/>
        </p:scale>
        <p:origin x="946" y="12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8/6/2026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9.png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22.png"/><Relationship Id="rId5" Type="http://schemas.openxmlformats.org/officeDocument/2006/relationships/image" Target="../media/image9.png"/><Relationship Id="rId10" Type="http://schemas.openxmlformats.org/officeDocument/2006/relationships/image" Target="../media/image21.png"/><Relationship Id="rId4" Type="http://schemas.openxmlformats.org/officeDocument/2006/relationships/image" Target="../media/image8.png"/><Relationship Id="rId9" Type="http://schemas.openxmlformats.org/officeDocument/2006/relationships/image" Target="../media/image2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3" Type="http://schemas.openxmlformats.org/officeDocument/2006/relationships/image" Target="../media/image31.png"/><Relationship Id="rId7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11" Type="http://schemas.openxmlformats.org/officeDocument/2006/relationships/image" Target="../media/image36.png"/><Relationship Id="rId5" Type="http://schemas.openxmlformats.org/officeDocument/2006/relationships/image" Target="../media/image33.png"/><Relationship Id="rId10" Type="http://schemas.openxmlformats.org/officeDocument/2006/relationships/image" Target="../media/image35.png"/><Relationship Id="rId4" Type="http://schemas.openxmlformats.org/officeDocument/2006/relationships/image" Target="../media/image32.png"/><Relationship Id="rId9" Type="http://schemas.openxmlformats.org/officeDocument/2006/relationships/image" Target="../media/image34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5000" y="4359472"/>
            <a:ext cx="8382000" cy="5048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695450" y="2219712"/>
            <a:ext cx="8801100" cy="613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4830"/>
              </a:lnSpc>
            </a:pPr>
            <a:r>
              <a:rPr sz="4200" b="0" i="0" u="none" dirty="0" err="1">
                <a:solidFill>
                  <a:srgbClr val="0F172A"/>
                </a:solidFill>
                <a:latin typeface="Poppins SemiBold"/>
              </a:rPr>
              <a:t>MindWallet</a:t>
            </a:r>
            <a:endParaRPr sz="4200" b="0" i="0" u="none" dirty="0">
              <a:solidFill>
                <a:srgbClr val="0F172A"/>
              </a:solidFill>
              <a:latin typeface="Poppins SemiBold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910080" y="3057722"/>
            <a:ext cx="8382000" cy="83099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lang="en-IN" sz="1800" b="0" i="0" u="none" dirty="0">
                <a:solidFill>
                  <a:srgbClr val="2563EB"/>
                </a:solidFill>
                <a:latin typeface="Inter SemiBold"/>
              </a:rPr>
              <a:t>Context-Aware Personal Finance &amp; Decision Support Platform</a:t>
            </a:r>
          </a:p>
          <a:p>
            <a:pPr algn="ctr"/>
            <a:r>
              <a:rPr lang="en-US" dirty="0">
                <a:solidFill>
                  <a:srgbClr val="2563EB"/>
                </a:solidFill>
              </a:rPr>
              <a:t>Making personal finance simple, accessible, and intuitive.</a:t>
            </a:r>
          </a:p>
          <a:p>
            <a:pPr algn="ctr"/>
            <a:endParaRPr sz="1800" b="0" i="0" u="none" dirty="0">
              <a:solidFill>
                <a:srgbClr val="2563EB"/>
              </a:solidFill>
              <a:latin typeface="Inter SemiBold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899920" y="3745844"/>
            <a:ext cx="838200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 dirty="0">
                <a:solidFill>
                  <a:srgbClr val="475569"/>
                </a:solidFill>
                <a:latin typeface="Inter"/>
              </a:rPr>
              <a:t>Course Project Presentation — HCI &amp; Inclusive UI/UX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514600" y="4430910"/>
            <a:ext cx="244792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Inter"/>
              </a:rPr>
              <a:t>Course: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User Interface &amp; UX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200650" y="4430910"/>
            <a:ext cx="1314450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Inter"/>
              </a:rPr>
              <a:t>Faculty: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Jeevitha P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53225" y="4430910"/>
            <a:ext cx="2924175" cy="18097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125" b="1" i="0" u="none">
                <a:solidFill>
                  <a:srgbClr val="0F172A"/>
                </a:solidFill>
                <a:latin typeface="Inter"/>
              </a:rPr>
              <a:t>Review Stage: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0th Review (Initial Proposal)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319337"/>
            <a:ext cx="5405437" cy="30575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62687" y="2319337"/>
            <a:ext cx="5405437" cy="30575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0100" y="3033712"/>
            <a:ext cx="509563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Project Scope &amp; Objectives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0100" y="3414712"/>
            <a:ext cx="4852987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 err="1">
                <a:solidFill>
                  <a:srgbClr val="475569"/>
                </a:solidFill>
                <a:latin typeface="Inter"/>
              </a:rPr>
              <a:t>MindWallet</a:t>
            </a:r>
            <a:r>
              <a:rPr sz="1275" b="0" i="0" u="none" dirty="0">
                <a:solidFill>
                  <a:srgbClr val="475569"/>
                </a:solidFill>
                <a:latin typeface="Inter"/>
              </a:rPr>
              <a:t> is a web-based personal finance application designed to streamline expense management, budget tracking, and subscription monitoring.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0100" y="4257675"/>
            <a:ext cx="4852987" cy="72866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 dirty="0">
                <a:solidFill>
                  <a:srgbClr val="475569"/>
                </a:solidFill>
                <a:latin typeface="Inter"/>
              </a:rPr>
              <a:t>The system focuses on bridging digital accessibility gaps by adopting human-computer interaction (HCI) best practices and WCAG 2.2 AA standards.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38912" y="3033712"/>
            <a:ext cx="5095636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Core Philosophy &amp; Approach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538912" y="3414712"/>
            <a:ext cx="4852987" cy="2428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1" i="0" u="none">
                <a:solidFill>
                  <a:srgbClr val="475569"/>
                </a:solidFill>
                <a:latin typeface="Inter"/>
              </a:rPr>
              <a:t>"Money Made Simple."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38912" y="3771900"/>
            <a:ext cx="4852987" cy="9715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912"/>
              </a:lnSpc>
            </a:pPr>
            <a:r>
              <a:rPr sz="1275" b="0" i="0" u="none">
                <a:solidFill>
                  <a:srgbClr val="475569"/>
                </a:solidFill>
                <a:latin typeface="Inter"/>
              </a:rPr>
              <a:t>Rather than presenting complex statistical logs, MindWallet proposes simplified dashboards, progressive information disclosure, and proactive decision support tools like purchase simulators.</a:t>
            </a:r>
          </a:p>
        </p:txBody>
      </p:sp>
      <p:pic>
        <p:nvPicPr>
          <p:cNvPr id="11" name="Picture 1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0100" y="2624137"/>
            <a:ext cx="333375" cy="266700"/>
          </a:xfrm>
          <a:prstGeom prst="rect">
            <a:avLst/>
          </a:prstGeom>
        </p:spPr>
      </p:pic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38912" y="2624137"/>
            <a:ext cx="266700" cy="2667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23875" y="428625"/>
            <a:ext cx="116681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 dirty="0">
                <a:solidFill>
                  <a:srgbClr val="0F172A"/>
                </a:solidFill>
                <a:latin typeface="Poppins SemiBold"/>
              </a:rPr>
              <a:t>Abstract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23875" y="1009650"/>
            <a:ext cx="111442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28900"/>
            <a:ext cx="3587799" cy="2438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2628900"/>
            <a:ext cx="3587799" cy="2438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0474" y="2628900"/>
            <a:ext cx="3587799" cy="2438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867025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3476625"/>
            <a:ext cx="326712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Cognitive Overload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857625"/>
            <a:ext cx="31115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Inter"/>
              </a:rPr>
              <a:t>Existing mobile &amp; web finance tools present crowded dashboards with heavy financial jargon, causing high cognitive friction for novice users.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0299" y="2867025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40299" y="3476625"/>
            <a:ext cx="326712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Passive Expense Tracking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0299" y="3857625"/>
            <a:ext cx="311154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Current platforms act purely as historical logs without offering guided financial decision support prior to making purchases.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8599" y="2867025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18599" y="3476625"/>
            <a:ext cx="326712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Lack of Inclusive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8599" y="3857625"/>
            <a:ext cx="311154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 dirty="0">
                <a:solidFill>
                  <a:srgbClr val="475569"/>
                </a:solidFill>
                <a:latin typeface="Inter"/>
              </a:rPr>
              <a:t>Limited assistance for elderly users, individuals with visual or motor impairments, and users with low digital literacy.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81062" y="3000375"/>
            <a:ext cx="219075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3649" y="3000375"/>
            <a:ext cx="19050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1949" y="3000375"/>
            <a:ext cx="1905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3875" y="428625"/>
            <a:ext cx="116681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0F172A"/>
                </a:solidFill>
                <a:latin typeface="Poppins SemiBold"/>
              </a:rPr>
              <a:t>Problem Statement (Existing System)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3875" y="1009650"/>
            <a:ext cx="111442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2552700"/>
            <a:ext cx="5405437" cy="1114425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2687" y="3810000"/>
            <a:ext cx="5405437" cy="1114425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809625" y="2552700"/>
            <a:ext cx="5119687" cy="685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Accessibility-First UI Framework: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Built-in Senior Mode, high-contrast themes, scalable typography, and full keyboard/screen-reader compliance.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09625" y="3371850"/>
            <a:ext cx="51196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Interactive Purchase Simulator: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Pre-evaluates purchase impact against live budgets to assist spending decisions.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9625" y="3962400"/>
            <a:ext cx="51196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Financial Health Index: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A simplified metric evaluating liquidity, budget adherence, and savings performance.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9625" y="4552950"/>
            <a:ext cx="5119687" cy="4572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800"/>
              </a:lnSpc>
            </a:pPr>
            <a:r>
              <a:rPr sz="1200" b="1" i="0" u="none">
                <a:solidFill>
                  <a:srgbClr val="475569"/>
                </a:solidFill>
                <a:latin typeface="Inter"/>
              </a:rPr>
              <a:t>Reduced Cognitive Load:</a:t>
            </a:r>
            <a:r>
              <a:rPr sz="1200" b="0" i="0" u="none">
                <a:solidFill>
                  <a:srgbClr val="475569"/>
                </a:solidFill>
                <a:latin typeface="Inter"/>
              </a:rPr>
              <a:t> Plain-language guidance, contextual tooltips, and step-by-step form wizards.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62712" y="2752725"/>
            <a:ext cx="5255656" cy="238125"/>
          </a:xfrm>
          <a:prstGeom prst="rect">
            <a:avLst/>
          </a:prstGeom>
          <a:noFill/>
        </p:spPr>
        <p:txBody>
          <a:bodyPr wrap="square" lIns="17145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oppins SemiBold"/>
              </a:rPr>
              <a:t>Key Differentiator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62712" y="3067050"/>
            <a:ext cx="50053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Integrates HCI principles directly into personal finance—converting raw data into clear, accessible visual cues.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62712" y="4010025"/>
            <a:ext cx="5255656" cy="238125"/>
          </a:xfrm>
          <a:prstGeom prst="rect">
            <a:avLst/>
          </a:prstGeom>
          <a:noFill/>
        </p:spPr>
        <p:txBody>
          <a:bodyPr wrap="square" lIns="247650" tIns="0" rIns="0" bIns="0" anchor="t">
            <a:spAutoFit/>
          </a:bodyPr>
          <a:lstStyle/>
          <a:p>
            <a:pPr algn="l"/>
            <a:r>
              <a:rPr sz="1200" b="0" i="0" u="none">
                <a:solidFill>
                  <a:srgbClr val="0F172A"/>
                </a:solidFill>
                <a:latin typeface="Poppins SemiBold"/>
              </a:rPr>
              <a:t>Target Inclusion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62712" y="4324350"/>
            <a:ext cx="5005387" cy="4000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575"/>
              </a:lnSpc>
            </a:pPr>
            <a:r>
              <a:rPr sz="1050" b="0" i="0" u="none">
                <a:solidFill>
                  <a:srgbClr val="475569"/>
                </a:solidFill>
                <a:latin typeface="Inter"/>
              </a:rPr>
              <a:t>Equally optimized for tech-savvy students and elderly or low digital-literacy users.</a:t>
            </a:r>
          </a:p>
        </p:txBody>
      </p:sp>
      <p:pic>
        <p:nvPicPr>
          <p:cNvPr id="13" name="Picture 1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2576512"/>
            <a:ext cx="152400" cy="180975"/>
          </a:xfrm>
          <a:prstGeom prst="rect">
            <a:avLst/>
          </a:prstGeom>
        </p:spPr>
      </p:pic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395662"/>
            <a:ext cx="152400" cy="180975"/>
          </a:xfrm>
          <a:prstGeom prst="rect">
            <a:avLst/>
          </a:prstGeom>
        </p:spPr>
      </p:pic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3986212"/>
            <a:ext cx="152400" cy="180975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875" y="4576762"/>
            <a:ext cx="152400" cy="180975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62712" y="2790825"/>
            <a:ext cx="114300" cy="152400"/>
          </a:xfrm>
          <a:prstGeom prst="rect">
            <a:avLst/>
          </a:prstGeom>
        </p:spPr>
      </p:pic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62712" y="4048125"/>
            <a:ext cx="190500" cy="15240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23875" y="428625"/>
            <a:ext cx="116681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0F172A"/>
                </a:solidFill>
                <a:latin typeface="Poppins SemiBold"/>
              </a:rPr>
              <a:t>Proposed System &amp; Novelty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23875" y="1009650"/>
            <a:ext cx="111442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628900"/>
            <a:ext cx="3587799" cy="24384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2628900"/>
            <a:ext cx="3587799" cy="24384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0474" y="2628900"/>
            <a:ext cx="3587799" cy="24384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867025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3476625"/>
            <a:ext cx="326712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1. Management Modules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857625"/>
            <a:ext cx="31115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Income &amp; Expense Tracker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Subscription Manager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Budget Planner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Savings Goals</a:t>
            </a:r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0299" y="2867025"/>
            <a:ext cx="457200" cy="45720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4540299" y="3476625"/>
            <a:ext cx="326712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2. Analytics &amp; Decision Support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40299" y="3857625"/>
            <a:ext cx="31115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Financial Health Score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Purchase Simulator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Spending Analytics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Monthly PDF Reports</a:t>
            </a:r>
          </a:p>
        </p:txBody>
      </p:sp>
      <p:pic>
        <p:nvPicPr>
          <p:cNvPr id="12" name="Picture 11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8599" y="2867025"/>
            <a:ext cx="457200" cy="45720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8318599" y="3476625"/>
            <a:ext cx="326712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3. Accessibility Engine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18599" y="3857625"/>
            <a:ext cx="3111549" cy="8572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Senior Mode Toggle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Font &amp; Contrast Controller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ARIA Screen Reader Labels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Guided Walkthroughs</a:t>
            </a:r>
          </a:p>
        </p:txBody>
      </p:sp>
      <p:pic>
        <p:nvPicPr>
          <p:cNvPr id="15" name="Picture 14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" y="3000375"/>
            <a:ext cx="190500" cy="190500"/>
          </a:xfrm>
          <a:prstGeom prst="rect">
            <a:avLst/>
          </a:prstGeom>
        </p:spPr>
      </p:pic>
      <p:pic>
        <p:nvPicPr>
          <p:cNvPr id="16" name="Picture 15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3649" y="3000375"/>
            <a:ext cx="190500" cy="190500"/>
          </a:xfrm>
          <a:prstGeom prst="rect">
            <a:avLst/>
          </a:prstGeom>
        </p:spPr>
      </p:pic>
      <p:pic>
        <p:nvPicPr>
          <p:cNvPr id="17" name="Picture 16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51949" y="3000375"/>
            <a:ext cx="190500" cy="19050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523875" y="428625"/>
            <a:ext cx="116681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0F172A"/>
                </a:solidFill>
                <a:latin typeface="Poppins SemiBold"/>
              </a:rPr>
              <a:t>Core System Modules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23875" y="1009650"/>
            <a:ext cx="111442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1266825"/>
            <a:ext cx="11144250" cy="516255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23875" y="428625"/>
            <a:ext cx="116681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0F172A"/>
                </a:solidFill>
                <a:latin typeface="Poppins SemiBold"/>
              </a:rPr>
              <a:t>Interaction Design Flow &amp; Screen Navigation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23875" y="1009650"/>
            <a:ext cx="111442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Rounded Rectangle 2"/>
          <p:cNvSpPr/>
          <p:nvPr/>
        </p:nvSpPr>
        <p:spPr>
          <a:xfrm>
            <a:off x="523875" y="2609850"/>
            <a:ext cx="11144250" cy="2476500"/>
          </a:xfrm>
          <a:prstGeom prst="roundRect">
            <a:avLst>
              <a:gd name="adj" fmla="val 0"/>
            </a:avLst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46013514"/>
              </p:ext>
            </p:extLst>
          </p:nvPr>
        </p:nvGraphicFramePr>
        <p:xfrm>
          <a:off x="523875" y="2609850"/>
          <a:ext cx="11134723" cy="2476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86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2426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06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31752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Feature / Capability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YNAB / Monarch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Rocket Money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200" b="0" i="0" u="none">
                          <a:solidFill>
                            <a:srgbClr val="FFFFFF"/>
                          </a:solidFill>
                          <a:latin typeface="Poppins SemiBold"/>
                        </a:rPr>
                        <a:t>MindWallet (Proposed)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0F172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Expense Tracking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  </a:t>
                      </a:r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Detailed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  </a:t>
                      </a:r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Detailed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  </a:t>
                      </a:r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Simplified &amp; Guided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Accessibility (WCAG 2.2)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  </a:t>
                      </a:r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Partial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  </a:t>
                      </a:r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Partial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  </a:t>
                      </a:r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Accessibility-First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Purchase Simulator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  </a:t>
                      </a:r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Absent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  </a:t>
                      </a:r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Absent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  </a:t>
                      </a:r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Integrated Tool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95300">
                <a:tc>
                  <a:txBody>
                    <a:bodyPr/>
                    <a:lstStyle/>
                    <a:p>
                      <a:pPr algn="l"/>
                      <a:r>
                        <a:rPr sz="1125" b="1" i="0" u="none">
                          <a:solidFill>
                            <a:srgbClr val="475569"/>
                          </a:solidFill>
                          <a:latin typeface="Inter"/>
                        </a:rPr>
                        <a:t>Senior / Inclusive Mode</a:t>
                      </a:r>
                    </a:p>
                  </a:txBody>
                  <a:tcPr marL="63500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  </a:t>
                      </a:r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  </a:t>
                      </a:r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None</a:t>
                      </a:r>
                    </a:p>
                  </a:txBody>
                  <a:tcPr marL="21907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   </a:t>
                      </a:r>
                      <a:r>
                        <a:rPr sz="1125" b="0" i="0" u="none" dirty="0">
                          <a:solidFill>
                            <a:srgbClr val="475569"/>
                          </a:solidFill>
                          <a:latin typeface="Inter"/>
                        </a:rPr>
                        <a:t>Dedicated Option</a:t>
                      </a:r>
                    </a:p>
                  </a:txBody>
                  <a:tcPr marL="238125" marR="63500" marT="25400" marB="254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528637" y="3109912"/>
            <a:ext cx="31864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715047" y="3109912"/>
            <a:ext cx="24242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6139308" y="3109912"/>
            <a:ext cx="22065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8345834" y="3109912"/>
            <a:ext cx="33175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Rectangle 8"/>
          <p:cNvSpPr/>
          <p:nvPr/>
        </p:nvSpPr>
        <p:spPr>
          <a:xfrm>
            <a:off x="528637" y="3600450"/>
            <a:ext cx="31864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Rectangle 9"/>
          <p:cNvSpPr/>
          <p:nvPr/>
        </p:nvSpPr>
        <p:spPr>
          <a:xfrm>
            <a:off x="3715047" y="3600450"/>
            <a:ext cx="24242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6139308" y="3600450"/>
            <a:ext cx="22065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8345834" y="3600450"/>
            <a:ext cx="33175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Rectangle 12"/>
          <p:cNvSpPr/>
          <p:nvPr/>
        </p:nvSpPr>
        <p:spPr>
          <a:xfrm>
            <a:off x="528637" y="4090987"/>
            <a:ext cx="31864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Rectangle 13"/>
          <p:cNvSpPr/>
          <p:nvPr/>
        </p:nvSpPr>
        <p:spPr>
          <a:xfrm>
            <a:off x="3715047" y="4090987"/>
            <a:ext cx="24242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6139308" y="4090987"/>
            <a:ext cx="22065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8345834" y="4090987"/>
            <a:ext cx="33175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528637" y="4581525"/>
            <a:ext cx="3186410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3715047" y="4581525"/>
            <a:ext cx="2424261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139308" y="4581525"/>
            <a:ext cx="2206525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ectangle 19"/>
          <p:cNvSpPr/>
          <p:nvPr/>
        </p:nvSpPr>
        <p:spPr>
          <a:xfrm>
            <a:off x="8345834" y="4581525"/>
            <a:ext cx="3317527" cy="9525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Picture 20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497" y="3776662"/>
            <a:ext cx="104775" cy="142875"/>
          </a:xfrm>
          <a:prstGeom prst="rect">
            <a:avLst/>
          </a:prstGeom>
        </p:spPr>
      </p:pic>
      <p:pic>
        <p:nvPicPr>
          <p:cNvPr id="22" name="Picture 21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497" y="3286125"/>
            <a:ext cx="123825" cy="142875"/>
          </a:xfrm>
          <a:prstGeom prst="rect">
            <a:avLst/>
          </a:prstGeom>
        </p:spPr>
      </p:pic>
      <p:pic>
        <p:nvPicPr>
          <p:cNvPr id="23" name="Picture 22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7284" y="3776662"/>
            <a:ext cx="123825" cy="142875"/>
          </a:xfrm>
          <a:prstGeom prst="rect">
            <a:avLst/>
          </a:prstGeom>
        </p:spPr>
      </p:pic>
      <p:pic>
        <p:nvPicPr>
          <p:cNvPr id="24" name="Picture 23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758" y="4757737"/>
            <a:ext cx="104775" cy="142875"/>
          </a:xfrm>
          <a:prstGeom prst="rect">
            <a:avLst/>
          </a:prstGeom>
        </p:spPr>
      </p:pic>
      <p:pic>
        <p:nvPicPr>
          <p:cNvPr id="25" name="Picture 2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284" y="3286125"/>
            <a:ext cx="123825" cy="142875"/>
          </a:xfrm>
          <a:prstGeom prst="rect">
            <a:avLst/>
          </a:prstGeom>
        </p:spPr>
      </p:pic>
      <p:pic>
        <p:nvPicPr>
          <p:cNvPr id="26" name="Picture 2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0758" y="4267200"/>
            <a:ext cx="104775" cy="142875"/>
          </a:xfrm>
          <a:prstGeom prst="rect">
            <a:avLst/>
          </a:prstGeom>
        </p:spPr>
      </p:pic>
      <p:pic>
        <p:nvPicPr>
          <p:cNvPr id="27" name="Picture 2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758" y="3286125"/>
            <a:ext cx="123825" cy="142875"/>
          </a:xfrm>
          <a:prstGeom prst="rect">
            <a:avLst/>
          </a:prstGeom>
        </p:spPr>
      </p:pic>
      <p:pic>
        <p:nvPicPr>
          <p:cNvPr id="28" name="Picture 27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284" y="4267200"/>
            <a:ext cx="123825" cy="142875"/>
          </a:xfrm>
          <a:prstGeom prst="rect">
            <a:avLst/>
          </a:prstGeom>
        </p:spPr>
      </p:pic>
      <p:pic>
        <p:nvPicPr>
          <p:cNvPr id="29" name="Picture 2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758" y="3776662"/>
            <a:ext cx="104775" cy="142875"/>
          </a:xfrm>
          <a:prstGeom prst="rect">
            <a:avLst/>
          </a:prstGeom>
        </p:spPr>
      </p:pic>
      <p:pic>
        <p:nvPicPr>
          <p:cNvPr id="30" name="Picture 2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497" y="4267200"/>
            <a:ext cx="104775" cy="142875"/>
          </a:xfrm>
          <a:prstGeom prst="rect">
            <a:avLst/>
          </a:prstGeom>
        </p:spPr>
      </p:pic>
      <p:pic>
        <p:nvPicPr>
          <p:cNvPr id="31" name="Picture 30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7284" y="4757737"/>
            <a:ext cx="123825" cy="142875"/>
          </a:xfrm>
          <a:prstGeom prst="rect">
            <a:avLst/>
          </a:prstGeom>
        </p:spPr>
      </p:pic>
      <p:pic>
        <p:nvPicPr>
          <p:cNvPr id="32" name="Picture 3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497" y="4757737"/>
            <a:ext cx="104775" cy="142875"/>
          </a:xfrm>
          <a:prstGeom prst="rect">
            <a:avLst/>
          </a:prstGeom>
        </p:spPr>
      </p:pic>
      <p:pic>
        <p:nvPicPr>
          <p:cNvPr id="33" name="Picture 32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497" y="3286125"/>
            <a:ext cx="123825" cy="142875"/>
          </a:xfrm>
          <a:prstGeom prst="rect">
            <a:avLst/>
          </a:prstGeom>
        </p:spPr>
      </p:pic>
      <p:pic>
        <p:nvPicPr>
          <p:cNvPr id="34" name="Picture 3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10758" y="3286125"/>
            <a:ext cx="123825" cy="142875"/>
          </a:xfrm>
          <a:prstGeom prst="rect">
            <a:avLst/>
          </a:prstGeom>
        </p:spPr>
      </p:pic>
      <p:pic>
        <p:nvPicPr>
          <p:cNvPr id="35" name="Picture 34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284" y="3286125"/>
            <a:ext cx="123825" cy="142875"/>
          </a:xfrm>
          <a:prstGeom prst="rect">
            <a:avLst/>
          </a:prstGeom>
        </p:spPr>
      </p:pic>
      <p:pic>
        <p:nvPicPr>
          <p:cNvPr id="36" name="Picture 3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497" y="3776662"/>
            <a:ext cx="104775" cy="142875"/>
          </a:xfrm>
          <a:prstGeom prst="rect">
            <a:avLst/>
          </a:prstGeom>
        </p:spPr>
      </p:pic>
      <p:pic>
        <p:nvPicPr>
          <p:cNvPr id="37" name="Picture 36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758" y="3776662"/>
            <a:ext cx="104775" cy="142875"/>
          </a:xfrm>
          <a:prstGeom prst="rect">
            <a:avLst/>
          </a:prstGeom>
        </p:spPr>
      </p:pic>
      <p:pic>
        <p:nvPicPr>
          <p:cNvPr id="38" name="Picture 37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7284" y="3776662"/>
            <a:ext cx="123825" cy="142875"/>
          </a:xfrm>
          <a:prstGeom prst="rect">
            <a:avLst/>
          </a:prstGeom>
        </p:spPr>
      </p:pic>
      <p:pic>
        <p:nvPicPr>
          <p:cNvPr id="39" name="Picture 38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86497" y="4267200"/>
            <a:ext cx="104775" cy="142875"/>
          </a:xfrm>
          <a:prstGeom prst="rect">
            <a:avLst/>
          </a:prstGeom>
        </p:spPr>
      </p:pic>
      <p:pic>
        <p:nvPicPr>
          <p:cNvPr id="40" name="Picture 39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10758" y="4267200"/>
            <a:ext cx="104775" cy="142875"/>
          </a:xfrm>
          <a:prstGeom prst="rect">
            <a:avLst/>
          </a:prstGeom>
        </p:spPr>
      </p:pic>
      <p:pic>
        <p:nvPicPr>
          <p:cNvPr id="41" name="Picture 40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17284" y="4267200"/>
            <a:ext cx="123825" cy="142875"/>
          </a:xfrm>
          <a:prstGeom prst="rect">
            <a:avLst/>
          </a:prstGeom>
        </p:spPr>
      </p:pic>
      <p:pic>
        <p:nvPicPr>
          <p:cNvPr id="42" name="Picture 41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86497" y="4757737"/>
            <a:ext cx="104775" cy="142875"/>
          </a:xfrm>
          <a:prstGeom prst="rect">
            <a:avLst/>
          </a:prstGeom>
        </p:spPr>
      </p:pic>
      <p:pic>
        <p:nvPicPr>
          <p:cNvPr id="43" name="Picture 4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10758" y="4757737"/>
            <a:ext cx="104775" cy="142875"/>
          </a:xfrm>
          <a:prstGeom prst="rect">
            <a:avLst/>
          </a:prstGeom>
        </p:spPr>
      </p:pic>
      <p:pic>
        <p:nvPicPr>
          <p:cNvPr id="44" name="Picture 43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17284" y="4757737"/>
            <a:ext cx="123825" cy="142875"/>
          </a:xfrm>
          <a:prstGeom prst="rect">
            <a:avLst/>
          </a:prstGeom>
        </p:spPr>
      </p:pic>
      <p:sp>
        <p:nvSpPr>
          <p:cNvPr id="45" name="TextBox 44"/>
          <p:cNvSpPr txBox="1"/>
          <p:nvPr/>
        </p:nvSpPr>
        <p:spPr>
          <a:xfrm>
            <a:off x="523875" y="428625"/>
            <a:ext cx="116681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0F172A"/>
                </a:solidFill>
                <a:latin typeface="Poppins SemiBold"/>
              </a:rPr>
              <a:t>Competitor Analysis</a:t>
            </a:r>
          </a:p>
        </p:txBody>
      </p:sp>
      <p:sp>
        <p:nvSpPr>
          <p:cNvPr id="46" name="Rectangle 45"/>
          <p:cNvSpPr/>
          <p:nvPr/>
        </p:nvSpPr>
        <p:spPr>
          <a:xfrm>
            <a:off x="523875" y="1009650"/>
            <a:ext cx="111442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318" y="4057650"/>
            <a:ext cx="1428750" cy="78105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013471" y="2857500"/>
            <a:ext cx="1428750" cy="78105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81625" y="4057650"/>
            <a:ext cx="1428750" cy="6096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49778" y="2857500"/>
            <a:ext cx="1428750" cy="781050"/>
          </a:xfrm>
          <a:prstGeom prst="rect">
            <a:avLst/>
          </a:prstGeom>
        </p:spPr>
      </p:pic>
      <p:pic>
        <p:nvPicPr>
          <p:cNvPr id="7" name="Picture 6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17931" y="4057650"/>
            <a:ext cx="1428750" cy="781050"/>
          </a:xfrm>
          <a:prstGeom prst="rect">
            <a:avLst/>
          </a:prstGeom>
        </p:spPr>
      </p:pic>
      <p:sp>
        <p:nvSpPr>
          <p:cNvPr id="8" name="Rectangle 7"/>
          <p:cNvSpPr/>
          <p:nvPr/>
        </p:nvSpPr>
        <p:spPr>
          <a:xfrm>
            <a:off x="523875" y="3833812"/>
            <a:ext cx="11144250" cy="28575"/>
          </a:xfrm>
          <a:prstGeom prst="rect">
            <a:avLst/>
          </a:prstGeom>
          <a:solidFill>
            <a:srgbClr val="CBD5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719613" y="4162425"/>
            <a:ext cx="128016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0F172A"/>
                </a:solidFill>
                <a:latin typeface="Poppins SemiBold"/>
              </a:rPr>
              <a:t>1. Requirement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50093" y="4391025"/>
            <a:ext cx="12192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HCI goals &amp; user research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87766" y="2962275"/>
            <a:ext cx="128016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0F172A"/>
                </a:solidFill>
                <a:latin typeface="Poppins SemiBold"/>
              </a:rPr>
              <a:t>2. Conceptualize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18246" y="3190875"/>
            <a:ext cx="12192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Metaphors &amp; UI wireframes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55920" y="4162425"/>
            <a:ext cx="128016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0F172A"/>
                </a:solidFill>
                <a:latin typeface="Poppins SemiBold"/>
              </a:rPr>
              <a:t>3. Prototype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4391025"/>
            <a:ext cx="1219200" cy="1714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Figma UI/UX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824073" y="2962275"/>
            <a:ext cx="128016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0F172A"/>
                </a:solidFill>
                <a:latin typeface="Poppins SemiBold"/>
              </a:rPr>
              <a:t>4. Develop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54553" y="3190875"/>
            <a:ext cx="12192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HTML/CSS/JS frontend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192226" y="4162425"/>
            <a:ext cx="1280160" cy="2000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1050" b="0" i="0" u="none">
                <a:solidFill>
                  <a:srgbClr val="0F172A"/>
                </a:solidFill>
                <a:latin typeface="Poppins SemiBold"/>
              </a:rPr>
              <a:t>5. Evaluation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222706" y="4391025"/>
            <a:ext cx="1219200" cy="342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1350"/>
              </a:lnSpc>
            </a:pPr>
            <a:r>
              <a:rPr sz="900" b="0" i="0" u="none">
                <a:solidFill>
                  <a:srgbClr val="64748B"/>
                </a:solidFill>
                <a:latin typeface="Inter"/>
              </a:rPr>
              <a:t>WCAG 2.2 &amp; Usability test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1293018" y="37814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Rounded Rectangle 19"/>
          <p:cNvSpPr/>
          <p:nvPr/>
        </p:nvSpPr>
        <p:spPr>
          <a:xfrm>
            <a:off x="3661171" y="37814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Rounded Rectangle 20"/>
          <p:cNvSpPr/>
          <p:nvPr/>
        </p:nvSpPr>
        <p:spPr>
          <a:xfrm>
            <a:off x="6029325" y="37814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ounded Rectangle 21"/>
          <p:cNvSpPr/>
          <p:nvPr/>
        </p:nvSpPr>
        <p:spPr>
          <a:xfrm>
            <a:off x="8397478" y="37814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Rounded Rectangle 22"/>
          <p:cNvSpPr/>
          <p:nvPr/>
        </p:nvSpPr>
        <p:spPr>
          <a:xfrm>
            <a:off x="10765631" y="3781425"/>
            <a:ext cx="133350" cy="133350"/>
          </a:xfrm>
          <a:prstGeom prst="roundRect">
            <a:avLst>
              <a:gd name="adj" fmla="val 50000"/>
            </a:avLst>
          </a:prstGeom>
          <a:solidFill>
            <a:srgbClr val="2563EB"/>
          </a:solidFill>
          <a:ln w="28575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" name="TextBox 23"/>
          <p:cNvSpPr txBox="1"/>
          <p:nvPr/>
        </p:nvSpPr>
        <p:spPr>
          <a:xfrm>
            <a:off x="523875" y="428625"/>
            <a:ext cx="116681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0F172A"/>
                </a:solidFill>
                <a:latin typeface="Poppins SemiBold"/>
              </a:rPr>
              <a:t>Project Roadmap &amp; Implementation Flow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23875" y="1009650"/>
            <a:ext cx="111442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Picture 2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3875" y="2571750"/>
            <a:ext cx="3587799" cy="2552700"/>
          </a:xfrm>
          <a:prstGeom prst="rect">
            <a:avLst/>
          </a:prstGeom>
        </p:spPr>
      </p:pic>
      <p:pic>
        <p:nvPicPr>
          <p:cNvPr id="4" name="Picture 3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02174" y="2571750"/>
            <a:ext cx="3587799" cy="2552700"/>
          </a:xfrm>
          <a:prstGeom prst="rect">
            <a:avLst/>
          </a:prstGeom>
        </p:spPr>
      </p:pic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080474" y="2571750"/>
            <a:ext cx="3587799" cy="255270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62000" y="2809875"/>
            <a:ext cx="457200" cy="45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762000" y="3419475"/>
            <a:ext cx="326712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Member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62000" y="3800475"/>
            <a:ext cx="3111549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UX Research &amp; Documentation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2000" y="4129087"/>
            <a:ext cx="311154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User Personas &amp; Journey Maps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Information Architecture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Documentation &amp; Review Slides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540299" y="2809875"/>
            <a:ext cx="457200" cy="457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4540299" y="3419475"/>
            <a:ext cx="326712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Member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40299" y="3800475"/>
            <a:ext cx="3111549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UI/UX Design &amp; Prototyping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40299" y="4129087"/>
            <a:ext cx="311154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Figma Wireframes &amp; Systems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Accessibility &amp; Senior Mode UI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Interactive Prototypes</a:t>
            </a:r>
          </a:p>
        </p:txBody>
      </p:sp>
      <p:pic>
        <p:nvPicPr>
          <p:cNvPr id="14" name="Picture 13" descr="image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318599" y="2809875"/>
            <a:ext cx="457200" cy="4572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8318599" y="3419475"/>
            <a:ext cx="3267127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1500" b="0" i="0" u="none">
                <a:solidFill>
                  <a:srgbClr val="0F172A"/>
                </a:solidFill>
                <a:latin typeface="Poppins SemiBold"/>
              </a:rPr>
              <a:t>Member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18599" y="3800475"/>
            <a:ext cx="3111549" cy="2143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1" i="0" u="none">
                <a:solidFill>
                  <a:srgbClr val="475569"/>
                </a:solidFill>
                <a:latin typeface="Inter"/>
              </a:rPr>
              <a:t>Frontend Development &amp; Testing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18599" y="4129087"/>
            <a:ext cx="3111549" cy="64293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ts val="1687"/>
              </a:lnSpc>
            </a:pPr>
            <a:r>
              <a:rPr sz="1125" b="0" i="0" u="none">
                <a:solidFill>
                  <a:srgbClr val="475569"/>
                </a:solidFill>
                <a:latin typeface="Inter"/>
              </a:rPr>
              <a:t>• HTML5/CSS3/JavaScript UI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Module Integration</a:t>
            </a:r>
            <a:r>
              <a:t>
</a:t>
            </a:r>
            <a:r>
              <a:rPr sz="1125" b="0" i="0" u="none">
                <a:solidFill>
                  <a:srgbClr val="475569"/>
                </a:solidFill>
                <a:latin typeface="Inter"/>
              </a:rPr>
              <a:t> • Usability &amp; WCAG Testing</a:t>
            </a:r>
          </a:p>
        </p:txBody>
      </p:sp>
      <p:pic>
        <p:nvPicPr>
          <p:cNvPr id="18" name="Picture 17" descr="image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95350" y="2943225"/>
            <a:ext cx="190500" cy="190500"/>
          </a:xfrm>
          <a:prstGeom prst="rect">
            <a:avLst/>
          </a:prstGeom>
        </p:spPr>
      </p:pic>
      <p:pic>
        <p:nvPicPr>
          <p:cNvPr id="19" name="Picture 18" descr="image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673649" y="2943225"/>
            <a:ext cx="190500" cy="190500"/>
          </a:xfrm>
          <a:prstGeom prst="rect">
            <a:avLst/>
          </a:prstGeom>
        </p:spPr>
      </p:pic>
      <p:pic>
        <p:nvPicPr>
          <p:cNvPr id="20" name="Picture 19" descr="image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28136" y="2943225"/>
            <a:ext cx="238125" cy="190500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23875" y="428625"/>
            <a:ext cx="11668125" cy="50482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/>
            <a:r>
              <a:rPr sz="2550" b="0" i="0" u="none">
                <a:solidFill>
                  <a:srgbClr val="0F172A"/>
                </a:solidFill>
                <a:latin typeface="Poppins SemiBold"/>
              </a:rPr>
              <a:t>Team Responsibilities &amp; Work Distribution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23875" y="1009650"/>
            <a:ext cx="11144250" cy="19050"/>
          </a:xfrm>
          <a:prstGeom prst="rect">
            <a:avLst/>
          </a:prstGeom>
          <a:solidFill>
            <a:srgbClr val="F1F5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65708" y="2343150"/>
            <a:ext cx="4660582" cy="7429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/>
            <a:r>
              <a:rPr sz="3900" b="0" i="0" u="none">
                <a:solidFill>
                  <a:srgbClr val="0F172A"/>
                </a:solidFill>
                <a:latin typeface="Poppins SemiBold"/>
              </a:rP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876675" y="3200400"/>
            <a:ext cx="4438650" cy="2857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ctr">
              <a:lnSpc>
                <a:spcPts val="2250"/>
              </a:lnSpc>
            </a:pPr>
            <a:r>
              <a:rPr sz="1500" b="0" i="0" u="none">
                <a:solidFill>
                  <a:srgbClr val="2563EB"/>
                </a:solidFill>
                <a:latin typeface="Inter Medium"/>
              </a:rPr>
              <a:t>MindWallet — Money Made Simple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37</TotalTime>
  <Words>585</Words>
  <Application>Microsoft Office PowerPoint</Application>
  <PresentationFormat>Widescreen</PresentationFormat>
  <Paragraphs>82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Arial</vt:lpstr>
      <vt:lpstr>Calibri</vt:lpstr>
      <vt:lpstr>Inter</vt:lpstr>
      <vt:lpstr>Inter Medium</vt:lpstr>
      <vt:lpstr>Inter SemiBold</vt:lpstr>
      <vt:lpstr>Poppins SemiBold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Sigatapu Siva Surya Prasad</cp:lastModifiedBy>
  <cp:revision>4</cp:revision>
  <dcterms:created xsi:type="dcterms:W3CDTF">2013-01-27T09:14:16Z</dcterms:created>
  <dcterms:modified xsi:type="dcterms:W3CDTF">2026-08-06T06:07:33Z</dcterms:modified>
  <cp:category/>
</cp:coreProperties>
</file>